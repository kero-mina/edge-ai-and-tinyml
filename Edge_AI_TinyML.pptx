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165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mitkacar/awesome-tiny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TexasInstruments/edgeai-tensorlab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91498" y="-1090907"/>
            <a:ext cx="3200400" cy="3200400"/>
          </a:xfrm>
          <a:prstGeom prst="ellipse">
            <a:avLst/>
          </a:prstGeom>
          <a:solidFill>
            <a:schemeClr val="bg1">
              <a:alpha val="12000"/>
            </a:scheme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812578" y="-411480"/>
            <a:ext cx="2011680" cy="2011680"/>
          </a:xfrm>
          <a:prstGeom prst="ellipse">
            <a:avLst/>
          </a:prstGeom>
          <a:solidFill>
            <a:schemeClr val="bg1">
              <a:alpha val="18000"/>
            </a:schemeClr>
          </a:solidFill>
          <a:ln w="12700">
            <a:solidFill>
              <a:srgbClr val="7B61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498" y="210312"/>
            <a:ext cx="2560320" cy="1188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664208"/>
            <a:ext cx="73152" cy="2286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58368" y="17099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ECE 521: Embedded ML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" y="2084832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lab &amp; TinyML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58368" y="32461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AI models at the edge — from MPUs to microelectronics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" y="44622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Kirolos Mina</a:t>
            </a:r>
            <a:r>
              <a:rPr lang="en-US" sz="13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Supervised by: </a:t>
            </a: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Rami Zewail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0664"/>
            <a:ext cx="8229600" cy="32004"/>
          </a:xfrm>
          <a:prstGeom prst="rect">
            <a:avLst/>
          </a:prstGeom>
          <a:solidFill>
            <a:srgbClr val="00D4FF">
              <a:alpha val="55000"/>
            </a:srgbClr>
          </a:solidFill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749808"/>
          </a:xfrm>
          <a:prstGeom prst="rect">
            <a:avLst/>
          </a:prstGeom>
          <a:solidFill>
            <a:srgbClr val="162032"/>
          </a:solidFill>
          <a:ln w="12700">
            <a:solidFill>
              <a:srgbClr val="00D4FF">
                <a:alpha val="4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225296"/>
            <a:ext cx="118872" cy="1188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914400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refers to running AI and ML models directly on local hardware devices (like smartphones, smart cameras, or appliances) rather than in a remote cloud data center.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783080"/>
            <a:ext cx="8321040" cy="749808"/>
          </a:xfrm>
          <a:prstGeom prst="rect">
            <a:avLst/>
          </a:prstGeom>
          <a:solidFill>
            <a:srgbClr val="162032"/>
          </a:solidFill>
          <a:ln w="12700">
            <a:solidFill>
              <a:srgbClr val="00D4FF">
                <a:alpha val="4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2093976"/>
            <a:ext cx="118872" cy="1188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1783080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is a specialized subset of Edge AI. It focuses on shrinking these AI models so they can run on ultra-small, low power microelectronics.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651760"/>
            <a:ext cx="8321040" cy="749808"/>
          </a:xfrm>
          <a:prstGeom prst="rect">
            <a:avLst/>
          </a:prstGeom>
          <a:solidFill>
            <a:srgbClr val="162032"/>
          </a:solidFill>
          <a:ln w="12700">
            <a:solidFill>
              <a:srgbClr val="00D4FF">
                <a:alpha val="4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4360" y="2962656"/>
            <a:ext cx="118872" cy="1188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1248" y="2651760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offers three major benefits: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547872"/>
            <a:ext cx="2651760" cy="548640"/>
          </a:xfrm>
          <a:prstGeom prst="rect">
            <a:avLst/>
          </a:prstGeom>
          <a:solidFill>
            <a:srgbClr val="00E5A0">
              <a:alpha val="20000"/>
            </a:srgbClr>
          </a:solidFill>
          <a:ln w="19050">
            <a:solidFill>
              <a:srgbClr val="00E5A0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35478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zero latency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27832" y="3547872"/>
            <a:ext cx="2651760" cy="548640"/>
          </a:xfrm>
          <a:prstGeom prst="rect">
            <a:avLst/>
          </a:prstGeom>
          <a:solidFill>
            <a:srgbClr val="00D4FF">
              <a:alpha val="20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27832" y="35478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enhanced privacy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44184" y="3547872"/>
            <a:ext cx="2651760" cy="548640"/>
          </a:xfrm>
          <a:prstGeom prst="rect">
            <a:avLst/>
          </a:prstGeom>
          <a:solidFill>
            <a:srgbClr val="FF9F45">
              <a:alpha val="20000"/>
            </a:srgbClr>
          </a:solidFill>
          <a:ln w="19050">
            <a:solidFill>
              <a:srgbClr val="FF9F45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44184" y="35478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offline functionality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Software Tools for Different Devices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0664"/>
            <a:ext cx="8229600" cy="32004"/>
          </a:xfrm>
          <a:prstGeom prst="rect">
            <a:avLst/>
          </a:prstGeom>
          <a:solidFill>
            <a:srgbClr val="00D4FF">
              <a:alpha val="55000"/>
            </a:srgbClr>
          </a:solidFill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instrument is a pioneering company in EdgeAI field, and has its own software tools within its ecosystem, the tools are as follows: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8412480" cy="384048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533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 CCStudio Edge AI Studio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8229600" cy="621792"/>
          </a:xfrm>
          <a:prstGeom prst="rect">
            <a:avLst/>
          </a:prstGeom>
          <a:solidFill>
            <a:srgbClr val="162032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4864" cy="6217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828800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Uses: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unifies data collection, model training, performance analysis and deployment. It handles everything from simple visual steps to complex command-line processes.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542032"/>
            <a:ext cx="8229600" cy="621792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542032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54203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Key components: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composer and model analyzer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55264"/>
            <a:ext cx="8229600" cy="621792"/>
          </a:xfrm>
          <a:prstGeom prst="rect">
            <a:avLst/>
          </a:prstGeom>
          <a:solidFill>
            <a:srgbClr val="162032"/>
          </a:solidFill>
          <a:ln w="12700">
            <a:solidFill>
              <a:srgbClr val="7B61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54864" cy="6217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3255264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Model composer: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script-based tool used to collect and annotate data, train neural networks and compile models directly for target devices.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68496"/>
            <a:ext cx="8229600" cy="621792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A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968496"/>
            <a:ext cx="54864" cy="62179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" y="3968496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Model analyzer: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service that allows developers to benchmark deep learning models on remote development boards in minutes, displaying metrics like FPS and memory usage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Software Tools — TIDL &amp; Model Zoo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0664"/>
            <a:ext cx="8229600" cy="32004"/>
          </a:xfrm>
          <a:prstGeom prst="rect">
            <a:avLst/>
          </a:prstGeom>
          <a:solidFill>
            <a:srgbClr val="00D4FF">
              <a:alpha val="55000"/>
            </a:srgbClr>
          </a:solidFill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384048"/>
          </a:xfrm>
          <a:prstGeom prst="rect">
            <a:avLst/>
          </a:prstGeom>
          <a:solidFill>
            <a:srgbClr val="7B61FF">
              <a:alpha val="20000"/>
            </a:srgbClr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 TI deep learning (TIDL) tools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316736"/>
            <a:ext cx="82296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7B61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316736"/>
            <a:ext cx="54864" cy="5669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31673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Uses: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allows developers to run machine learning models directly on specialized on-chip accelerators (such as digital signal processor or a deep learning matrix accelerator)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1975104"/>
            <a:ext cx="82296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975104"/>
            <a:ext cx="54864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1975104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Run-time-support: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off-the-shelf support for industry-standard frameworks like ONNX and TensorFlow lite.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724912"/>
            <a:ext cx="8412480" cy="384048"/>
          </a:xfrm>
          <a:prstGeom prst="rect">
            <a:avLst/>
          </a:prstGeom>
          <a:solidFill>
            <a:srgbClr val="00E5A0">
              <a:alpha val="20000"/>
            </a:srgbClr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7249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 Edge AI Model Zoo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82296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A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54864" cy="56692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320040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Vast, built-in repository containing pre-trained models optimized for TI's hardware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858768"/>
            <a:ext cx="82296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858768"/>
            <a:ext cx="54864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3232" y="38587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Uses: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building a model from scratch, developers can choose from dozens of pre-trained architectures for tasks like image classification, semantic segmentation and object detection.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9327" y="201168"/>
            <a:ext cx="852747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Software Tools — Processor SDK Linux for Edge AI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0664"/>
            <a:ext cx="8229600" cy="32004"/>
          </a:xfrm>
          <a:prstGeom prst="rect">
            <a:avLst/>
          </a:prstGeom>
          <a:solidFill>
            <a:srgbClr val="00D4FF">
              <a:alpha val="55000"/>
            </a:srgbClr>
          </a:solidFill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384048"/>
          </a:xfrm>
          <a:prstGeom prst="rect">
            <a:avLst/>
          </a:prstGeom>
          <a:solidFill>
            <a:srgbClr val="FF9F45">
              <a:alpha val="20000"/>
            </a:srgbClr>
          </a:solidFill>
          <a:ln w="12700">
            <a:solidFill>
              <a:srgbClr val="FF9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 Processor SDK linux for Edge AI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316736"/>
            <a:ext cx="8229600" cy="621792"/>
          </a:xfrm>
          <a:prstGeom prst="rect">
            <a:avLst/>
          </a:prstGeom>
          <a:solidFill>
            <a:srgbClr val="162032"/>
          </a:solidFill>
          <a:ln w="12700">
            <a:solidFill>
              <a:srgbClr val="FF9F4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316736"/>
            <a:ext cx="54864" cy="621792"/>
          </a:xfrm>
          <a:prstGeom prst="rect">
            <a:avLst/>
          </a:prstGeom>
          <a:solidFill>
            <a:srgbClr val="FF9F45"/>
          </a:solidFill>
          <a:ln w="12700">
            <a:solidFill>
              <a:srgbClr val="FF9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316736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 scalable software development kit (SDK) providing pre-tuned inference engines and foundational AI applications.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29968"/>
            <a:ext cx="8229600" cy="621792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029968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202996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Uses: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acts as the software foundation to connect camera streams or sensor data to live display outputs. It features plug-and-play integration with tools like Gstreamer, OpenCV and OpenVX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852928"/>
            <a:ext cx="8412480" cy="502920"/>
          </a:xfrm>
          <a:prstGeom prst="rect">
            <a:avLst/>
          </a:prstGeom>
          <a:solidFill>
            <a:srgbClr val="00D4FF">
              <a:alpha val="15000"/>
            </a:srgbClr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852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tools are compatible with MCUs and MPUs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3493008"/>
            <a:ext cx="8412480" cy="384048"/>
          </a:xfrm>
          <a:prstGeom prst="rect">
            <a:avLst/>
          </a:prstGeom>
          <a:solidFill>
            <a:srgbClr val="7B61FF">
              <a:alpha val="25000"/>
            </a:srgbClr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493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Edge AI MPUs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396849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Overview: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 AM6xA and TDA4X processors for your Edge AI system, follow these steps: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4622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 Select a processor and acquire evaluation hardware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Edge AI MPUs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0664"/>
            <a:ext cx="8229600" cy="32004"/>
          </a:xfrm>
          <a:prstGeom prst="rect">
            <a:avLst/>
          </a:prstGeom>
          <a:solidFill>
            <a:srgbClr val="00D4FF">
              <a:alpha val="55000"/>
            </a:srgbClr>
          </a:solidFill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32104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the SDK for your device, install to an SD card and boot the Edge AI SDK on the evaluation hardware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18488"/>
            <a:ext cx="832104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61848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TIDL to compile neural network models for the C7 AI accelerator and run on the target device.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368296"/>
            <a:ext cx="832104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36829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models with open-source runtimes and integrate into an end-to-end application with Gstreamer or TI's OpenVX implementation.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136392"/>
            <a:ext cx="8412480" cy="384048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1363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TI Edge AI model development flow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high-level, the Edge AI development flows features two stages.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133088"/>
            <a:ext cx="118872" cy="1188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x86 host machine (PC or server), import and compile a trained model for the C7 NPU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○  Compiled models can be run on PC with a bit-accurate emulator of the C7 NPU to evaluate and optimize accuracy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544568"/>
            <a:ext cx="118872" cy="1188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4348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your compiled model to the embedded processor and accelerate with standard runtimes.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Edge AI Model Development Flow —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0664"/>
            <a:ext cx="8229600" cy="32004"/>
          </a:xfrm>
          <a:prstGeom prst="rect">
            <a:avLst/>
          </a:prstGeom>
          <a:solidFill>
            <a:srgbClr val="00D4FF">
              <a:alpha val="55000"/>
            </a:srgbClr>
          </a:solidFill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41248"/>
            <a:ext cx="8412480" cy="3154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0965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provides tools for various points in the process.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02336" y="4460332"/>
            <a:ext cx="118872" cy="1188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43688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GUI-based tool, there is a corresponding open source, programmatic / command-line tool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02336" y="4780372"/>
            <a:ext cx="118872" cy="1188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46889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initial evaluation of a model architecture, developers will often iterate on their model to achieve optimal performance and accuracy.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Accuracy Optimization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0664"/>
            <a:ext cx="8229600" cy="32004"/>
          </a:xfrm>
          <a:prstGeom prst="rect">
            <a:avLst/>
          </a:prstGeom>
          <a:solidFill>
            <a:srgbClr val="00D4FF">
              <a:alpha val="55000"/>
            </a:srgbClr>
          </a:solidFill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777240"/>
          </a:xfrm>
          <a:prstGeom prst="rect">
            <a:avLst/>
          </a:prstGeom>
          <a:solidFill>
            <a:srgbClr val="162032"/>
          </a:solidFill>
          <a:ln w="19050">
            <a:solidFill>
              <a:srgbClr val="00D4FF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64008" cy="7772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289304"/>
            <a:ext cx="118872" cy="1188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9601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stage of performance optimization is by ensuring all layers within a model have acceleration support.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11480" y="1874520"/>
            <a:ext cx="8321040" cy="777240"/>
          </a:xfrm>
          <a:prstGeom prst="rect">
            <a:avLst/>
          </a:prstGeom>
          <a:solidFill>
            <a:srgbClr val="162032"/>
          </a:solidFill>
          <a:ln w="19050">
            <a:solidFill>
              <a:srgbClr val="00B4D8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874520"/>
            <a:ext cx="64008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4360" y="2203704"/>
            <a:ext cx="118872" cy="1188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8745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optimization can be approached during or after model training by post-training quantization and quantization aware-training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TinyML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0664"/>
            <a:ext cx="8229600" cy="32004"/>
          </a:xfrm>
          <a:prstGeom prst="rect">
            <a:avLst/>
          </a:prstGeom>
          <a:solidFill>
            <a:srgbClr val="00D4FF">
              <a:alpha val="55000"/>
            </a:srgbClr>
          </a:solidFill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384048"/>
          </a:xfrm>
          <a:prstGeom prst="rect">
            <a:avLst/>
          </a:prstGeom>
          <a:solidFill>
            <a:srgbClr val="00E5A0">
              <a:alpha val="22000"/>
            </a:srgbClr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Installation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1673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uses modern python tooling with hatch for dependency management and development workflows</a:t>
            </a:r>
            <a:endParaRPr lang="en-US" sz="13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10512"/>
            <a:ext cx="841248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TinyML — Development Setup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0664"/>
            <a:ext cx="8229600" cy="32004"/>
          </a:xfrm>
          <a:prstGeom prst="rect">
            <a:avLst/>
          </a:prstGeom>
          <a:solidFill>
            <a:srgbClr val="00D4FF">
              <a:alpha val="55000"/>
            </a:srgbClr>
          </a:solidFill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384048"/>
          </a:xfrm>
          <a:prstGeom prst="rect">
            <a:avLst/>
          </a:prstGeom>
          <a:solidFill>
            <a:srgbClr val="7B61FF">
              <a:alpha val="22000"/>
            </a:srgbClr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Development setup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16736"/>
            <a:ext cx="84124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TinyML —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0664"/>
            <a:ext cx="8229600" cy="32004"/>
          </a:xfrm>
          <a:prstGeom prst="rect">
            <a:avLst/>
          </a:prstGeom>
          <a:solidFill>
            <a:srgbClr val="00D4FF">
              <a:alpha val="55000"/>
            </a:srgbClr>
          </a:solidFill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384048"/>
          </a:xfrm>
          <a:prstGeom prst="rect">
            <a:avLst/>
          </a:prstGeom>
          <a:solidFill>
            <a:srgbClr val="7B61FF">
              <a:alpha val="22000"/>
            </a:srgbClr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Features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02336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A0">
                <a:alpha val="5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28016" cy="12801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8952" y="132588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INT8 Quantization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A0">
                <a:alpha val="5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1481328"/>
            <a:ext cx="128016" cy="12801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10912" y="132588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INT4 Quantization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1856232"/>
            <a:ext cx="402336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011680"/>
            <a:ext cx="128016" cy="12801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8952" y="185623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FP16 Quantization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856232"/>
            <a:ext cx="402336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00600" y="2011680"/>
            <a:ext cx="128016" cy="12801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10912" y="185623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Dynamic Quantization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2386584"/>
            <a:ext cx="402336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7B61FF">
                <a:alpha val="5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2542032"/>
            <a:ext cx="128016" cy="12801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8952" y="238658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Symmetric and asymmetric modes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2386584"/>
            <a:ext cx="402336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7B61FF">
                <a:alpha val="5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2542032"/>
            <a:ext cx="128016" cy="12801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10912" y="238658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Per-tensor &amp; per-channel quantization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2916936"/>
            <a:ext cx="402336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FF9F45">
                <a:alpha val="5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3072384"/>
            <a:ext cx="128016" cy="128016"/>
          </a:xfrm>
          <a:prstGeom prst="ellipse">
            <a:avLst/>
          </a:prstGeom>
          <a:solidFill>
            <a:srgbClr val="FF9F45"/>
          </a:solidFill>
          <a:ln w="12700">
            <a:solidFill>
              <a:srgbClr val="FF9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8952" y="291693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Weight quantization with 6 different modes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2916936"/>
            <a:ext cx="402336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FF9F45">
                <a:alpha val="5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00600" y="3072384"/>
            <a:ext cx="128016" cy="128016"/>
          </a:xfrm>
          <a:prstGeom prst="ellipse">
            <a:avLst/>
          </a:prstGeom>
          <a:solidFill>
            <a:srgbClr val="FF9F45"/>
          </a:solidFill>
          <a:ln w="12700">
            <a:solidFill>
              <a:srgbClr val="FF9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10912" y="291693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Compression ratio analysis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11480" y="3447288"/>
            <a:ext cx="402336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>
                <a:alpha val="5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48640" y="360273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58952" y="344728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Model size calculation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63440" y="3447288"/>
            <a:ext cx="402336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>
                <a:alpha val="5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00600" y="360273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10912" y="344728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Type-safe APIs with full annotations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11480" y="3977640"/>
            <a:ext cx="402336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A0">
                <a:alpha val="5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48640" y="4133088"/>
            <a:ext cx="128016" cy="12801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58952" y="39776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Comprehensive error handling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TinyML — Example Usage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0664"/>
            <a:ext cx="8229600" cy="32004"/>
          </a:xfrm>
          <a:prstGeom prst="rect">
            <a:avLst/>
          </a:prstGeom>
          <a:solidFill>
            <a:srgbClr val="00D4FF">
              <a:alpha val="55000"/>
            </a:srgbClr>
          </a:solidFill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384048"/>
          </a:xfrm>
          <a:prstGeom prst="rect">
            <a:avLst/>
          </a:prstGeom>
          <a:solidFill>
            <a:srgbClr val="FF9F45">
              <a:alpha val="22000"/>
            </a:srgbClr>
          </a:solidFill>
          <a:ln w="12700">
            <a:solidFill>
              <a:srgbClr val="FF9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Example usage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16736"/>
            <a:ext cx="84124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0664"/>
            <a:ext cx="8229600" cy="32004"/>
          </a:xfrm>
          <a:prstGeom prst="rect">
            <a:avLst/>
          </a:prstGeom>
          <a:solidFill>
            <a:srgbClr val="00D4FF">
              <a:alpha val="55000"/>
            </a:srgbClr>
          </a:solidFill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solidFill>
            <a:srgbClr val="162032"/>
          </a:solidFill>
          <a:ln w="19050">
            <a:solidFill>
              <a:srgbClr val="00D4FF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400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475488" cy="347472"/>
          </a:xfrm>
          <a:prstGeom prst="rect">
            <a:avLst/>
          </a:prstGeom>
          <a:solidFill>
            <a:srgbClr val="00D4FF">
              <a:alpha val="7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4630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Awesome TinyML</a:t>
            </a:r>
            <a:endParaRPr lang="en-US" sz="1600" dirty="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1234440" y="184708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u="sng" dirty="0">
                <a:solidFill>
                  <a:srgbClr val="A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https://github.com/umitkacar/awesome-tinyml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8229600" cy="1005840"/>
          </a:xfrm>
          <a:prstGeom prst="rect">
            <a:avLst/>
          </a:prstGeom>
          <a:solidFill>
            <a:srgbClr val="162032"/>
          </a:solidFill>
          <a:ln w="19050">
            <a:solidFill>
              <a:srgbClr val="00E5A0"/>
            </a:solidFill>
            <a:prstDash val="solid"/>
          </a:ln>
          <a:effectLst>
            <a:outerShdw blurRad="889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64008" cy="100584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475488" cy="347472"/>
          </a:xfrm>
          <a:prstGeom prst="rect">
            <a:avLst/>
          </a:prstGeom>
          <a:solidFill>
            <a:srgbClr val="00E5A0">
              <a:alpha val="75000"/>
            </a:srgbClr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6974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Edge AI TensorLab</a:t>
            </a:r>
            <a:endParaRPr lang="en-US" sz="1600" dirty="0"/>
          </a:p>
        </p:txBody>
      </p:sp>
      <p:sp>
        <p:nvSpPr>
          <p:cNvPr id="15" name="Text 13">
            <a:hlinkClick r:id="rId4"/>
          </p:cNvPr>
          <p:cNvSpPr/>
          <p:nvPr/>
        </p:nvSpPr>
        <p:spPr>
          <a:xfrm>
            <a:off x="1234440" y="30815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u="sng" dirty="0">
                <a:solidFill>
                  <a:srgbClr val="A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https://github.com/TexasInstruments/edgeai-tensorlab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4572000" cy="457200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7B61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1371600"/>
            <a:ext cx="3657600" cy="36576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-548640"/>
            <a:ext cx="2194560" cy="2194560"/>
          </a:xfrm>
          <a:prstGeom prst="ellipse">
            <a:avLst/>
          </a:prstGeom>
          <a:solidFill>
            <a:srgbClr val="00E5A0">
              <a:alpha val="15000"/>
            </a:srgbClr>
          </a:solidFill>
          <a:ln w="12700">
            <a:solidFill>
              <a:srgbClr val="00E5A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0" y="2468880"/>
            <a:ext cx="4572000" cy="36576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138303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838</Words>
  <Application>Microsoft Office PowerPoint</Application>
  <PresentationFormat>On-screen Show (16:9)</PresentationFormat>
  <Paragraphs>91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 AI lab &amp; TinyML</dc:title>
  <dc:subject>PptxGenJS Presentation</dc:subject>
  <dc:creator>PptxGenJS</dc:creator>
  <cp:lastModifiedBy>es-KyrillosJoseph2023</cp:lastModifiedBy>
  <cp:revision>3</cp:revision>
  <dcterms:created xsi:type="dcterms:W3CDTF">2026-05-19T02:48:26Z</dcterms:created>
  <dcterms:modified xsi:type="dcterms:W3CDTF">2026-05-19T08:22:53Z</dcterms:modified>
</cp:coreProperties>
</file>